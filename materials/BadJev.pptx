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321" r:id="rId3"/>
    <p:sldId id="322" r:id="rId4"/>
    <p:sldId id="331" r:id="rId5"/>
    <p:sldId id="320" r:id="rId6"/>
    <p:sldId id="323" r:id="rId7"/>
    <p:sldId id="324" r:id="rId8"/>
    <p:sldId id="325" r:id="rId9"/>
    <p:sldId id="327" r:id="rId10"/>
    <p:sldId id="333" r:id="rId11"/>
    <p:sldId id="334" r:id="rId12"/>
    <p:sldId id="328" r:id="rId13"/>
    <p:sldId id="332" r:id="rId14"/>
    <p:sldId id="335" r:id="rId15"/>
    <p:sldId id="336" r:id="rId16"/>
    <p:sldId id="33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4"/>
  </p:normalViewPr>
  <p:slideViewPr>
    <p:cSldViewPr snapToGrid="0">
      <p:cViewPr varScale="1">
        <p:scale>
          <a:sx n="121" d="100"/>
          <a:sy n="121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3D514-C266-7125-54AC-98065087B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711BDF-9E81-9B3D-6C5A-421BAC27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B8B675-0604-BA26-1ECA-62E72F27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5BDBC-6B22-41E3-1B9C-ACA7B3A4A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95B345-7BAA-CD12-2432-31399F71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87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4BAE8-614A-06A2-7648-B25B764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5C257-1144-A639-1D2A-C5ADB46CC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3FBFC-1682-0B3D-7A3E-2538FF6A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C376B-FC41-23B5-6079-ACF205C8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6824F5-7F9C-F7F5-BA2A-C3ED72C4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48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173AF-9E31-148B-F8EA-E7C12CEA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81D58C-0737-9F42-4D1E-87E0F84B9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FD64D4-B2EC-08BF-8CA8-E41D98AC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00AB4-47D0-89DB-FD91-DC68AA50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1D1931-1897-77B8-DF9F-27B5088D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4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466842-E51B-54E8-3EF1-7C0A2D0EE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EC8B34-6F80-6CA1-EE92-A7F8B68E3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0781F9-5D71-D756-0526-D1C2C37F6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D6916C-48D4-B168-EB6C-7D063DE2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397DA-1D3F-BE31-E9BE-903251125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21B654-D6EC-435A-AA05-11BD8A0A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50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3BFEF-F8E9-8642-AB3A-C4853F32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9EF9B9-9635-46F3-F8DD-01DA0983F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51D7A1-FC88-1EBD-D62C-E6E881670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6D6827-DFDB-3C7F-FE69-551DE2C9B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BE6A4E-B21A-DA1F-C2DA-4E5E46694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650251-4D56-C438-F5C3-CFC747A1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A764AE-BE8A-35D3-B5F6-D916609C1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5E5A5B-31B7-068A-2F91-8D4EB923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30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F06AD-FF28-BFC0-C1F6-1C06BEB6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6C5B1F-94F2-03CF-02BC-8995E58C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0B6F28-ED82-2CA8-C928-0CA6DAA6E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3960E5-A044-8786-9005-373402B5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97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F52CDE-35DD-36BF-84CF-3993ECD1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E549AC-572E-7944-D22B-D746B49A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C0D3F-EA9D-FCCF-CDD8-5DDA4880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75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5756C-309A-5249-BCEA-D47F4B6D4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DB72B-E57D-E72C-789F-5433FD6B8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765FE8-8E71-8419-A54D-A7553FE2A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54110-EED9-072A-73C9-8E75B8AE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34B40C-E27C-73CD-018A-A8C2EBE3C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35B408-B055-A6B2-57BD-7C0F1EF6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48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5FDA0-631E-BA6D-A948-E3B56CF4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AB490B-E9BF-421F-0721-F9D1BD072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E3FC6E-6B00-265E-20B1-CC5B2867E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20BE2-EFAD-682C-ECF1-BBD3AAF7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BD7E46-00C5-5BDB-5111-4C5D8C93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891C1-B16E-82E0-97AE-18880417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76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1FB5D-7B3F-FE9B-718D-BCC0C00F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1FFE51-9AD6-AA5B-D7C9-B38DC89F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BF33E-9442-AE88-AD8D-70C63A4B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38E5D2-6939-B8A0-0192-7C85F676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B303D-3341-168C-6658-0EA4024C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85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459381-8AB2-0256-12AF-70545EB9D1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CE0850-7285-E1A7-EDDF-82919C332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4C0F7F-D63C-B71D-33F8-956B66A6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8AA015-FF2C-9E88-1BCA-BC576CDA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8B962B-D8B3-2E99-3C9F-7C7A14B0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70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0E134D-E018-1E49-63D7-7C416934C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6818E2-87E3-B684-1276-53476BE9B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4F3642-EB44-E923-DE96-79F5ED2FA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6EA39-5573-4C52-8DCC-3B10518620E2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F353BB-674B-C87F-57C4-10EB2D360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6C856B-9EF4-9705-451D-0D8830B8B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0D2E0-34B5-40F8-ACBF-2F3BFD7799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14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7CBE7-4E40-88E7-D184-65E6B3B6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2B3B016-557E-1B00-314F-51D8F115E0D9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b="0" i="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Jev</a:t>
            </a: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简单介绍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07DB1C-A5DE-0FF8-7196-6F158E365A46}"/>
              </a:ext>
            </a:extLst>
          </p:cNvPr>
          <p:cNvSpPr txBox="1"/>
          <p:nvPr/>
        </p:nvSpPr>
        <p:spPr>
          <a:xfrm>
            <a:off x="476497" y="1067299"/>
            <a:ext cx="11274069" cy="21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的来源：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typesafe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AI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公司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2026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年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9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月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16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日发布的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system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one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模型（决策模型）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产品名称致敬经济学家威廉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·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斯坦利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·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杰文斯（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William Stanley Jevons</a:t>
            </a:r>
            <a:r>
              <a:rPr lang="zh-CN" altLang="e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——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其背后的逻辑是：决策成本越低，决策需求就会爆炸式增长。</a:t>
            </a:r>
            <a:endParaRPr lang="en-US" altLang="zh-CN" b="0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4537FCC-2489-A7C5-8701-ACFF4F007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208" y="2839998"/>
            <a:ext cx="6988806" cy="308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2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C0FC-F2BD-C5BD-D897-3E454C82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18148F-ADD3-A3C7-DE10-72337A5CF6F8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b="0" i="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Jev</a:t>
            </a: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简单介绍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12C267-C5A3-6CE2-3B3B-595CC63DC60A}"/>
              </a:ext>
            </a:extLst>
          </p:cNvPr>
          <p:cNvSpPr txBox="1"/>
          <p:nvPr/>
        </p:nvSpPr>
        <p:spPr>
          <a:xfrm>
            <a:off x="846082" y="1147942"/>
            <a:ext cx="10499835" cy="1689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特点：</a:t>
            </a:r>
            <a:endParaRPr lang="en-US" altLang="zh-CN" b="1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并行采样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" altLang="zh-CN" b="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同时处理请求中的所有问题，因此增加第十个问题几乎不会改变响应时间</a:t>
            </a:r>
            <a:endParaRPr lang="en-US" altLang="zh-CN" b="0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校准置信度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en" altLang="zh-CN" b="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采用 </a:t>
            </a:r>
            <a:r>
              <a:rPr lang="en" altLang="zh-CN" b="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TypeSafe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称为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校准决策强化学习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RLCD</a:t>
            </a:r>
            <a:r>
              <a:rPr lang="zh-CN" altLang="e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Reinforcement Learning for Calibrated Decisions</a:t>
            </a:r>
            <a:r>
              <a:rPr lang="zh-CN" altLang="e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的方法训练，针对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实际结果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而非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人类偏好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来优化概率（区分于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RLHF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6FA605-8280-CDA1-8672-9C57D858ECAB}"/>
              </a:ext>
            </a:extLst>
          </p:cNvPr>
          <p:cNvSpPr txBox="1"/>
          <p:nvPr/>
        </p:nvSpPr>
        <p:spPr>
          <a:xfrm>
            <a:off x="922281" y="2996654"/>
            <a:ext cx="1034743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提供的功能：</a:t>
            </a:r>
            <a:endParaRPr lang="en-US" altLang="zh-CN" b="1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spcAft>
                <a:spcPts val="1200"/>
              </a:spcAft>
            </a:pPr>
            <a:r>
              <a:rPr lang="en-US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1.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Choice</a:t>
            </a:r>
            <a:r>
              <a:rPr lang="zh-CN" altLang="e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选择）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：从一组选项（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最多 </a:t>
            </a:r>
            <a:r>
              <a:rPr lang="en-US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255 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个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）中选择一个，返回所选项、每个选项的概率以及置信度分数。可添加显式的 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other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选项，让模型表达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以上均不符合</a:t>
            </a:r>
          </a:p>
          <a:p>
            <a:pPr algn="l">
              <a:spcAft>
                <a:spcPts val="1200"/>
              </a:spcAft>
            </a:pPr>
            <a:r>
              <a:rPr lang="en-US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Score</a:t>
            </a:r>
            <a:r>
              <a:rPr lang="zh-CN" altLang="e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评分）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：在你用文字描述的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到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10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级量表上定位。返回可落在级别之间的分数（例如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3.5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 algn="l">
              <a:spcAft>
                <a:spcPts val="1200"/>
              </a:spcAft>
            </a:pPr>
            <a:r>
              <a:rPr lang="en-US" altLang="zh-C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3.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b="1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Noul</a:t>
            </a:r>
            <a:r>
              <a:rPr lang="zh-CN" altLang="en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是否）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：一个是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or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否问题，以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0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到 </a:t>
            </a: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1 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之间的单一概率返回</a:t>
            </a:r>
            <a:endParaRPr lang="en-US" altLang="zh-CN" b="0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spcAft>
                <a:spcPts val="1200"/>
              </a:spcAft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4.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超低、几乎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没有的幻觉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（模型无法输出给出范围以外的内容）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spcAft>
                <a:spcPts val="1200"/>
              </a:spcAft>
            </a:pPr>
            <a:r>
              <a:rPr lang="en-US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5.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b="1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无法拒绝回答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，一定会执行结果（目前为止还是）</a:t>
            </a:r>
            <a:endParaRPr lang="en-US" altLang="zh-CN" b="0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l">
              <a:spcAft>
                <a:spcPts val="1200"/>
              </a:spcAft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6.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 所有的答案都会给出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概率分布以及置信度</a:t>
            </a:r>
            <a:endParaRPr lang="zh-CN" altLang="en-US" b="1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314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442A2-7ACC-247C-C792-5CEB3953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4B0A5F8-3E23-E21B-2C46-EBF5E05DF891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b="0" i="0" dirty="0" err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Jev</a:t>
            </a:r>
            <a:r>
              <a:rPr lang="zh-CN" altLang="en-US" sz="2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简单介绍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8A833C-76D2-20BE-E339-6CDAD128E875}"/>
              </a:ext>
            </a:extLst>
          </p:cNvPr>
          <p:cNvSpPr txBox="1"/>
          <p:nvPr/>
        </p:nvSpPr>
        <p:spPr>
          <a:xfrm>
            <a:off x="476497" y="1033835"/>
            <a:ext cx="7136525" cy="418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简要总结：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首先是可以先给模型一个state，也就是背景知识，或者说上下文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1. 判断题，是或者不是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2. 选择题，给出一个问题，模型会在你给出的选项中给出一个答案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3. 等级题，给出一个问题和多种等级，模型可以给你做一个分级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输入</a:t>
            </a:r>
            <a:r>
              <a:rPr lang="en" altLang="zh-CN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0.042 </a:t>
            </a:r>
            <a:r>
              <a:rPr lang="zh-CN" altLang="en-US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美元</a:t>
            </a:r>
            <a:r>
              <a:rPr lang="en-US" altLang="zh-CN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/1Mtoken</a:t>
            </a:r>
            <a:r>
              <a:rPr lang="zh-CN" altLang="en-US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，输出免费</a:t>
            </a:r>
            <a:endParaRPr lang="en-US" altLang="zh-CN" i="0" dirty="0"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速度在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70-500ms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一个请求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没有安全对齐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C5C30A-C203-14BE-C3F1-AC9C647FE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41" y="3150413"/>
            <a:ext cx="5538142" cy="342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8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A6A1-22A0-9086-C300-A83D4C1F4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C5F62F7-3706-0969-2521-C146AB68409F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938743-F4C6-3ADB-F3C4-5C40C957D011}"/>
              </a:ext>
            </a:extLst>
          </p:cNvPr>
          <p:cNvSpPr txBox="1"/>
          <p:nvPr/>
        </p:nvSpPr>
        <p:spPr>
          <a:xfrm>
            <a:off x="476497" y="814358"/>
            <a:ext cx="11715503" cy="50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我觉得按照攻击者的目的可以将攻击分为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种类别：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窃取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欺诈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破坏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有害内容生成</a:t>
            </a:r>
            <a:endParaRPr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破坏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可以包括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物理世界真实破坏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，以及工作过程中对于工作完整性的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虚拟世界破坏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针对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模型的特点，可以分为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种可利用攻击方式：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利用是否问题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利用选择问题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利用分级问题</a:t>
            </a:r>
            <a:endParaRPr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但是因为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模型还存在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RLCD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校准的概率分布、无法拒绝回答（不泄漏关键信息）、低幻觉的特点，我们可以设计多种信息利用方案：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概率分布信息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判断结果 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置信度信息   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结论操控</a:t>
            </a:r>
            <a:b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</a:br>
            <a:endParaRPr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这样我们就可以设计一种针对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的攻击框架，通过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设定目标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-&gt;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采用方法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-&gt;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选择利用结果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来得到我们需要的结论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12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88A1-E412-74F4-0872-4248E2A6D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7E5A347-14E7-FBAE-D98E-76EAA7ED91A0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 descr="图形用户界面, 应用程序, 电子邮件&#10;&#10;描述已自动生成">
            <a:extLst>
              <a:ext uri="{FF2B5EF4-FFF2-40B4-BE49-F238E27FC236}">
                <a16:creationId xmlns:a16="http://schemas.microsoft.com/office/drawing/2014/main" id="{FE790275-5E50-6DED-5984-F8E3835EF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93" y="2039004"/>
            <a:ext cx="5772930" cy="41509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24C59F9-855F-793D-6294-3DE7B9C3F843}"/>
              </a:ext>
            </a:extLst>
          </p:cNvPr>
          <p:cNvSpPr txBox="1"/>
          <p:nvPr/>
        </p:nvSpPr>
        <p:spPr>
          <a:xfrm>
            <a:off x="388883" y="963995"/>
            <a:ext cx="10075889" cy="85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   方法：选择问题   信息：结论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Prompt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防御都很难给出一个有效的防御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5A5DBF7-6DD2-A240-C30D-BD70F3A91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07" y="2039004"/>
            <a:ext cx="6086800" cy="429813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0672E4D-0BD8-A8E6-6CAA-9B29C450B40D}"/>
              </a:ext>
            </a:extLst>
          </p:cNvPr>
          <p:cNvSpPr/>
          <p:nvPr/>
        </p:nvSpPr>
        <p:spPr>
          <a:xfrm>
            <a:off x="388883" y="2682271"/>
            <a:ext cx="1347089" cy="7488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7CA10B-7145-BA52-EE87-65B50B117DF1}"/>
              </a:ext>
            </a:extLst>
          </p:cNvPr>
          <p:cNvSpPr/>
          <p:nvPr/>
        </p:nvSpPr>
        <p:spPr>
          <a:xfrm>
            <a:off x="6096000" y="2472267"/>
            <a:ext cx="2522483" cy="1439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0415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A80D-1E42-35F5-0FA9-D8E7C6008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949C88A-001E-8FBE-0F5F-75636915D233}"/>
              </a:ext>
            </a:extLst>
          </p:cNvPr>
          <p:cNvSpPr txBox="1"/>
          <p:nvPr/>
        </p:nvSpPr>
        <p:spPr>
          <a:xfrm>
            <a:off x="476497" y="1014747"/>
            <a:ext cx="11084882" cy="85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其实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Prompt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防御是有效的，但是需要非常强大的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prompt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进行防御，同时也会直接降低普通用户的可用性，而且攻击者之需要简单的调整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prompt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就可以避开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007E0EA-04C6-E0F8-0C73-260520ACD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49" y="1890897"/>
            <a:ext cx="5641989" cy="395235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80AA6CC-9B63-8C56-D397-250CBFF3C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272" y="2141021"/>
            <a:ext cx="5477649" cy="383149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BE63251-3906-A642-A721-5A4ECAF89065}"/>
              </a:ext>
            </a:extLst>
          </p:cNvPr>
          <p:cNvSpPr/>
          <p:nvPr/>
        </p:nvSpPr>
        <p:spPr>
          <a:xfrm>
            <a:off x="619283" y="2649600"/>
            <a:ext cx="2267917" cy="136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C053B8-E5DD-69BE-ABAC-687DCAC0CD31}"/>
              </a:ext>
            </a:extLst>
          </p:cNvPr>
          <p:cNvSpPr/>
          <p:nvPr/>
        </p:nvSpPr>
        <p:spPr>
          <a:xfrm>
            <a:off x="6261272" y="4123548"/>
            <a:ext cx="2589535" cy="2605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DA35148-439B-25BC-F9EE-2CDC2006B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941" y="4253832"/>
            <a:ext cx="2866734" cy="251383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C5A0E3E-6F85-993A-6FC6-8F0A65EBDDCA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E237A5-15E7-3347-698C-E820374C1B12}"/>
              </a:ext>
            </a:extLst>
          </p:cNvPr>
          <p:cNvSpPr txBox="1"/>
          <p:nvPr/>
        </p:nvSpPr>
        <p:spPr>
          <a:xfrm>
            <a:off x="5465379" y="1413218"/>
            <a:ext cx="6096000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   方法：选择问题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概率分布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637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9021D-9A97-7E03-C464-E41B2333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CEE2B0A-04C0-80E1-7A1B-96E12450DA6D}"/>
              </a:ext>
            </a:extLst>
          </p:cNvPr>
          <p:cNvSpPr txBox="1"/>
          <p:nvPr/>
        </p:nvSpPr>
        <p:spPr>
          <a:xfrm>
            <a:off x="276800" y="1366318"/>
            <a:ext cx="3643557" cy="459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方法：是否问题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利用信息：概率分布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根据模型概率输出分布也能获取正确答案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模型的回答已经没有防御意义了，他不能隐藏或者不回答，因为输出的置信度和概率也会泄漏重要信息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包含全部密钥，</a:t>
            </a:r>
            <a:r>
              <a:rPr lang="en-US" altLang="zh-CN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包含一半密钥</a:t>
            </a:r>
            <a:endParaRPr lang="en-US" altLang="zh-CN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D08FDB-CDF1-651F-6EA4-4AC2B86AB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481" y="825192"/>
            <a:ext cx="7577959" cy="568011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9F99794-4512-9778-C1AE-4BBC17960E07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486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AE782-3766-94AE-6A66-7F2FA939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901A8C6-688D-0D42-6900-E54B4EAAA66F}"/>
              </a:ext>
            </a:extLst>
          </p:cNvPr>
          <p:cNvSpPr txBox="1"/>
          <p:nvPr/>
        </p:nvSpPr>
        <p:spPr>
          <a:xfrm>
            <a:off x="318844" y="918745"/>
            <a:ext cx="3454372" cy="584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攻击：选择问题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结论：概率分布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结论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我们考虑一种防御情况：</a:t>
            </a:r>
            <a:b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公司在使用过程中强制添加一个选项：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不予纰漏，不予告知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模型仍然能够给出一个置信度区间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考虑一种攻击环境：</a:t>
            </a:r>
            <a:b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jev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作为一个分析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agent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连接到了某个群聊，并输出其置信度和概率分布，或者是原始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</a:rPr>
              <a:t>json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文件，那么攻击者就能获取及其具体的信息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E30922-C9EE-D593-79BE-37E803C1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103" y="515992"/>
            <a:ext cx="7772400" cy="563683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93A1E75-2303-8B66-052B-C115492FDA7F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67FE68-4957-7C2F-7C67-E6ECE9CEE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185" y="3722743"/>
            <a:ext cx="4702815" cy="243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5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43D2-2CA3-4CE9-3065-87EA46CD1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EEFE01-6ABB-E6CE-D2C1-C817D4F88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21" y="1116352"/>
            <a:ext cx="3001798" cy="11670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2118E1-1E40-1CEE-4A94-AFDFFF6B0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46" y="2280254"/>
            <a:ext cx="2915656" cy="45777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918E16-D661-D6BB-1DDF-59E53BD6D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694" y="554672"/>
            <a:ext cx="4010511" cy="63033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C16A8D2-16F4-BBDE-D5BF-9B6CFB3FF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606" y="538655"/>
            <a:ext cx="4110195" cy="28903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B9868A2-C330-5062-8589-8B3B5ACACF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5205" y="3630979"/>
            <a:ext cx="4203262" cy="299369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930B074-B4BA-7270-8291-6926C130E3BC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27AC27-0A60-44D1-14F3-91A7EF24B305}"/>
              </a:ext>
            </a:extLst>
          </p:cNvPr>
          <p:cNvSpPr txBox="1"/>
          <p:nvPr/>
        </p:nvSpPr>
        <p:spPr>
          <a:xfrm>
            <a:off x="3174125" y="19755"/>
            <a:ext cx="7998372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目的：窃取   方法：判别问题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选择问题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概率分布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置信度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595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4A36-0E5E-E402-7222-F0EB6298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应用程序, 电子邮件&#10;&#10;描述已自动生成">
            <a:extLst>
              <a:ext uri="{FF2B5EF4-FFF2-40B4-BE49-F238E27FC236}">
                <a16:creationId xmlns:a16="http://schemas.microsoft.com/office/drawing/2014/main" id="{59DD8107-684C-5ABC-D56A-F11AF5890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96" y="1456078"/>
            <a:ext cx="8046166" cy="42665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B83123-F8B5-18D7-DEA4-57B52C1F415F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00A6E2-B085-AEF3-5ED7-8E076A7ACB91}"/>
              </a:ext>
            </a:extLst>
          </p:cNvPr>
          <p:cNvSpPr txBox="1"/>
          <p:nvPr/>
        </p:nvSpPr>
        <p:spPr>
          <a:xfrm>
            <a:off x="1022621" y="913779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目的：欺诈   方法：选择问题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置信度分布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8401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BD12-9BC1-0B4C-752C-339AF0CB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1B0E9EA-37A1-8101-AE86-64928001970B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586CB0-64EA-581A-DD20-5840B3EF78A8}"/>
              </a:ext>
            </a:extLst>
          </p:cNvPr>
          <p:cNvSpPr txBox="1"/>
          <p:nvPr/>
        </p:nvSpPr>
        <p:spPr>
          <a:xfrm>
            <a:off x="1022621" y="913779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目的：欺诈   方法：等级问题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置信度分布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ABDA90A-1677-09FF-C6EC-294060814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124" y="1999297"/>
            <a:ext cx="6203719" cy="432879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94E6910-4446-C38B-C7A9-AC3E4C4C4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7" y="1999297"/>
            <a:ext cx="5630917" cy="405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48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27B3-D66B-F1F8-37EA-CB236736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CC0F7508-B067-5535-DB6D-D8502CB84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2" y="1914402"/>
            <a:ext cx="5966758" cy="42671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8E934AC-CD40-4987-545F-FD280AF46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2338"/>
            <a:ext cx="6062938" cy="43692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8161B3-1F00-E979-3DB8-5E19DD960BF7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9708FC-E765-7174-4FEE-92F96718E300}"/>
              </a:ext>
            </a:extLst>
          </p:cNvPr>
          <p:cNvSpPr txBox="1"/>
          <p:nvPr/>
        </p:nvSpPr>
        <p:spPr>
          <a:xfrm>
            <a:off x="129242" y="921502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目的：破坏（虚拟世界）   方法：选择问题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+prompt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   信息：结论操控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953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4E944-28CD-6FBC-2A92-5A6FA114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029CCBB-831E-028B-6A99-793C6ABF222F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92B51CB-54EE-3053-C398-800945EF9112}"/>
              </a:ext>
            </a:extLst>
          </p:cNvPr>
          <p:cNvSpPr txBox="1"/>
          <p:nvPr/>
        </p:nvSpPr>
        <p:spPr>
          <a:xfrm>
            <a:off x="129242" y="921502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目的：破坏（物理世界）   方法：选择问题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+prompt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   信息：结论操控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7A8C55-6046-1E76-35C9-C82FE9324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483" y="1831295"/>
            <a:ext cx="6566338" cy="453983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064B40D-A413-6457-CA98-8A97080D1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31295"/>
            <a:ext cx="5896303" cy="425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8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4B962-4870-F04F-B0C3-D5FC521F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9CAA5DF-C569-06EF-93E5-D2B17DDC0F68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6BCDBB-7D90-D841-A410-97225DEAF8B4}"/>
              </a:ext>
            </a:extLst>
          </p:cNvPr>
          <p:cNvSpPr txBox="1"/>
          <p:nvPr/>
        </p:nvSpPr>
        <p:spPr>
          <a:xfrm>
            <a:off x="129242" y="921502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目的：破坏（物理世界）   方法：选择问题   信息：结论</a:t>
            </a: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+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概率分布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" name="图片 4" descr="图形用户界面, 应用程序, 电子邮件&#10;&#10;描述已自动生成">
            <a:extLst>
              <a:ext uri="{FF2B5EF4-FFF2-40B4-BE49-F238E27FC236}">
                <a16:creationId xmlns:a16="http://schemas.microsoft.com/office/drawing/2014/main" id="{9C2DEDE4-7DBD-5DB6-B1C0-1CAC569D6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42" y="1640270"/>
            <a:ext cx="6134765" cy="3529691"/>
          </a:xfrm>
          <a:prstGeom prst="rect">
            <a:avLst/>
          </a:prstGeom>
        </p:spPr>
      </p:pic>
      <p:pic>
        <p:nvPicPr>
          <p:cNvPr id="8" name="图片 7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A606C1C5-F982-3F97-3CBC-5AE805075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737" y="3510910"/>
            <a:ext cx="7227021" cy="325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22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C74A-3366-CDB9-09E2-38036094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079EFA3-F0D3-F501-8FE2-CFC98166AD06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攻击的例子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6C7D61-99D1-B625-4B55-6FA37BC2D33B}"/>
              </a:ext>
            </a:extLst>
          </p:cNvPr>
          <p:cNvSpPr txBox="1"/>
          <p:nvPr/>
        </p:nvSpPr>
        <p:spPr>
          <a:xfrm>
            <a:off x="1548138" y="932012"/>
            <a:ext cx="9267006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目的：恶意内容输出   方法：选择问题   信息：结论</a:t>
            </a:r>
            <a:endParaRPr lang="en-US" altLang="zh-CN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DB50F1-2753-490D-CEA3-1F33269B6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334" y="1573923"/>
            <a:ext cx="7575331" cy="514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59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55EC-B0D8-0C6C-A872-60973788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7A3BE3A-012D-EB1A-A277-C960E891F950}"/>
              </a:ext>
            </a:extLst>
          </p:cNvPr>
          <p:cNvSpPr txBox="1"/>
          <p:nvPr/>
        </p:nvSpPr>
        <p:spPr>
          <a:xfrm>
            <a:off x="476497" y="352693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BadJev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总结</a:t>
            </a:r>
            <a:endParaRPr lang="zh-CN" altLang="en-US" sz="2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9340312-2C43-06EA-8917-03D112BC9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873647"/>
              </p:ext>
            </p:extLst>
          </p:nvPr>
        </p:nvGraphicFramePr>
        <p:xfrm>
          <a:off x="1042089" y="969289"/>
          <a:ext cx="9867649" cy="536123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316743">
                  <a:extLst>
                    <a:ext uri="{9D8B030D-6E8A-4147-A177-3AD203B41FA5}">
                      <a16:colId xmlns:a16="http://schemas.microsoft.com/office/drawing/2014/main" val="1448904549"/>
                    </a:ext>
                  </a:extLst>
                </a:gridCol>
                <a:gridCol w="3120553">
                  <a:extLst>
                    <a:ext uri="{9D8B030D-6E8A-4147-A177-3AD203B41FA5}">
                      <a16:colId xmlns:a16="http://schemas.microsoft.com/office/drawing/2014/main" val="306653987"/>
                    </a:ext>
                  </a:extLst>
                </a:gridCol>
                <a:gridCol w="2430353">
                  <a:extLst>
                    <a:ext uri="{9D8B030D-6E8A-4147-A177-3AD203B41FA5}">
                      <a16:colId xmlns:a16="http://schemas.microsoft.com/office/drawing/2014/main" val="1884274674"/>
                    </a:ext>
                  </a:extLst>
                </a:gridCol>
              </a:tblGrid>
              <a:tr h="1829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攻击例子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 </a:t>
                      </a: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目标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任务形式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940831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定位保存实验室密钥的文档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36554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反向回答防御与身份自述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863415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分别询问文档是否包含密钥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是否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08064"/>
                  </a:ext>
                </a:extLst>
              </a:tr>
              <a:tr h="5843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服装公司保密底价查询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531112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银行密码属性询问与候选识别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窃取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是否＋选择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626570"/>
                  </a:ext>
                </a:extLst>
              </a:tr>
              <a:tr h="3155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从帖子中筛选欺诈目标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欺诈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05034"/>
                  </a:ext>
                </a:extLst>
              </a:tr>
              <a:tr h="3155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对两个个人档案进行欺诈目标评分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欺诈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分级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522155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改变模拟转账收款人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数字破坏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840525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虚假紧急信息改变安保机器人动作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物理破坏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695180"/>
                  </a:ext>
                </a:extLst>
              </a:tr>
              <a:tr h="3155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危险制造方案及后续选项选择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物理破坏</a:t>
                      </a:r>
                      <a:endParaRPr lang="zh-CN" altLang="en-US" sz="1800"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854501"/>
                  </a:ext>
                </a:extLst>
              </a:tr>
              <a:tr h="4499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伪造平台政策，诱导放行仇恨内容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恶意内容输出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选择</a:t>
                      </a:r>
                      <a:endParaRPr lang="zh-CN" altLang="en-US" sz="1800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41776" marR="41776" marT="20888" marB="2088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951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565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11970</TotalTime>
  <Words>1024</Words>
  <Application>Microsoft Macintosh PowerPoint</Application>
  <PresentationFormat>宽屏</PresentationFormat>
  <Paragraphs>109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宋体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键亿 胡</dc:creator>
  <cp:lastModifiedBy>键亿 胡</cp:lastModifiedBy>
  <cp:revision>6</cp:revision>
  <dcterms:created xsi:type="dcterms:W3CDTF">2026-06-17T13:26:40Z</dcterms:created>
  <dcterms:modified xsi:type="dcterms:W3CDTF">2026-09-21T09:15:24Z</dcterms:modified>
</cp:coreProperties>
</file>